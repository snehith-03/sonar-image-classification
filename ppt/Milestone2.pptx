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7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E15B3-D0BA-45BA-AC1F-794E6CE1E9E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DCBAD-5B7D-4AD5-8DD4-B3A15C12DD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80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DCBAD-5B7D-4AD5-8DD4-B3A15C12DD2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61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BB84-9DE4-023B-2FDE-44877A792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371CE-CCDB-7FFF-6761-49AA117ED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6B2F7-705B-FCBF-88EC-6B925D98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401D8-665F-C478-F83B-91697A9E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959B9-03C8-6C72-9ED6-B1746C5C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1664-C698-E133-9632-EE5690F1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8AE3-6AB7-689B-C039-D47ED2409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2F0EA-F30D-DD37-315A-17E19159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4C69C-C696-91B2-F7C1-B5363B14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C1DFF-5417-9385-732F-B6E62A08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2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4DC94-1B4A-3775-A8F3-147AE0AD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67CB8-5FB3-89B9-807C-D1EB7030B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D0929-122E-D357-2510-365A997A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046C2-34A9-A46B-C19D-595D471F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4FD6A-8798-A8BC-ECE3-6C8D66D8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1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627E-C8C7-35FB-8995-2934E0BC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11FC9-4E09-9F2B-AE31-50893FAF9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7272C-B1CA-2C95-3B31-928ACE4C0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DEC94-391F-DCF7-C3A0-F63A18AE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022A7-4EE8-F158-09E3-CFBCB658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B02D2-1A19-ECA0-830B-400713E3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96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0B86A-B158-1A23-1142-12B135D0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8E60E-6BBE-38A8-34A9-3B5F8A53A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ED8ABE-C1D5-CB14-7710-519657B7B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19956-258B-3B70-DB22-2E3061AA0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02BD8-F375-1608-C667-97F361737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90F9C-D301-E55F-BF44-7A601597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52146-669A-F654-6664-0957857C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281C2-6450-D350-734E-389AD979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0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76AD6-3417-8A77-E0E3-3722D788C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FAA8F-08AC-133E-AC35-DB4805DA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39495-9F35-3335-53C9-AF98B128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F0CFD-8C2F-4771-CFC1-61B57024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CD5EF-48DB-EE56-4A5C-99DDCAAB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7E2EE-19B7-211A-73FE-1427A794B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73AEB-548B-F6A9-41FE-E68B6272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53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8CBA-CC1E-EFEC-3778-AF2E7F73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8BE73-DB6D-ABD3-729D-0ABA3F59D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E5259-553C-E132-3BFA-C9EC35996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26C20-4E5C-A624-E4E3-124DABDD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7D9BD-E94A-213A-EDC6-27AC9356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CEFF4-00AC-2981-DDB8-BA81D5F9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6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70965-3FF4-BD71-8AEE-5E4DC6F7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51BCE-8CBD-CBA0-64FE-EEBC9BE7A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E6DD5-D78E-7AAF-2BED-A075E7A67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85374-CAF5-BC69-37FD-E4CFBB96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E2682-7AF3-D8C5-2FC7-AFAD007E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83AA6-E4E5-1499-D153-8F70213C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6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9C3C-60E4-F564-FB88-DCD70EEB0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E0363-22B0-29A0-745F-E247C29F3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4966C-9409-B2C3-1661-1C3C0C19E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B7C1-C404-BDFD-DA6E-321AD88A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DFEC5-DC0A-1EAB-EADE-454D52CF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11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B522EB-D920-1BEC-857E-654D42BA9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6C516-D416-97B1-7C91-953A11CFB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A0B67-BA72-8FD4-B389-3FBE3E7E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B85B0-EF9F-D376-F6A3-6F883CCB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9D0E2-C59E-A9B2-C20B-95FBA0A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4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FD10E-F334-32EA-EEFC-1F119FE23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D1991-44AD-DA2E-CE71-D6DC59A4C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B520F-D4F8-4A2E-D3F4-1D96BADD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4C76A-A4E7-5F30-8558-55C107586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F60B5-2D2E-4149-DEBD-2797E4EE0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7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1605280"/>
            <a:ext cx="8229600" cy="4525963"/>
          </a:xfrm>
        </p:spPr>
        <p:txBody>
          <a:bodyPr wrap="square">
            <a:normAutofit lnSpcReduction="10000"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Neeraja Reddy – 23P81A0556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G622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K.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Navatha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Akshitha – 23P81A6747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Snehith – 23P81A6727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Sri Charan – 23P81A6737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Sri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23P81A6713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ED6F22-9F4C-B836-B294-C522F065D9C5}"/>
              </a:ext>
            </a:extLst>
          </p:cNvPr>
          <p:cNvSpPr txBox="1"/>
          <p:nvPr/>
        </p:nvSpPr>
        <p:spPr>
          <a:xfrm>
            <a:off x="162560" y="254000"/>
            <a:ext cx="8788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800" b="1" dirty="0"/>
              <a:t>Underwater image classification &amp; analysis using explainable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8DC24-C8A6-43AC-0A6D-A94844392C36}"/>
              </a:ext>
            </a:extLst>
          </p:cNvPr>
          <p:cNvSpPr txBox="1"/>
          <p:nvPr/>
        </p:nvSpPr>
        <p:spPr>
          <a:xfrm>
            <a:off x="335280" y="5974080"/>
            <a:ext cx="870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end-to-end system for SONAR image classification using Deep Learning and Explainable AI to make underwater object detection accurate, secure, and interpretable.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9AEFE-954B-C988-A7EE-B2EAAEA10A8B}"/>
              </a:ext>
            </a:extLst>
          </p:cNvPr>
          <p:cNvSpPr txBox="1"/>
          <p:nvPr/>
        </p:nvSpPr>
        <p:spPr>
          <a:xfrm>
            <a:off x="-2953160" y="5070081"/>
            <a:ext cx="2275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D18340-28B3-8B46-AEA9-C7620718A3D0}"/>
              </a:ext>
            </a:extLst>
          </p:cNvPr>
          <p:cNvSpPr/>
          <p:nvPr/>
        </p:nvSpPr>
        <p:spPr>
          <a:xfrm>
            <a:off x="337677" y="2136337"/>
            <a:ext cx="1970823" cy="145007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Automated Sonar Analysis</a:t>
            </a: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AI-driven solution for automated classification of underwater SONAR images — identifying ships, mines, planes, fishes, humans, and seafloor elements with deep learning and explainable AI.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72B7E0-63A9-6413-BF53-29196070BFAA}"/>
              </a:ext>
            </a:extLst>
          </p:cNvPr>
          <p:cNvSpPr/>
          <p:nvPr/>
        </p:nvSpPr>
        <p:spPr>
          <a:xfrm>
            <a:off x="4624123" y="3718392"/>
            <a:ext cx="1959190" cy="15096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Explainable AI Integration</a:t>
            </a: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LIME highlights influential pixel regions; Grad-CAM generates heatmaps indicating decision regions — improving transparency and user trust in AI outputs.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6E9233-53D4-B7BA-1069-D95F0079DDE7}"/>
              </a:ext>
            </a:extLst>
          </p:cNvPr>
          <p:cNvSpPr/>
          <p:nvPr/>
        </p:nvSpPr>
        <p:spPr>
          <a:xfrm>
            <a:off x="337677" y="3727396"/>
            <a:ext cx="1970822" cy="1542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Model Inference</a:t>
            </a: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Transfer-learning CNN (DenseNet121) performs 6-class SONAR classification. Integrated LIME and Grad-CAM provide interpretability through visual explanations.</a:t>
            </a:r>
            <a:endParaRPr lang="en-US" sz="1000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7A2DA4-4400-9E12-3499-B7B554C4299A}"/>
              </a:ext>
            </a:extLst>
          </p:cNvPr>
          <p:cNvSpPr/>
          <p:nvPr/>
        </p:nvSpPr>
        <p:spPr>
          <a:xfrm>
            <a:off x="2471531" y="3727396"/>
            <a:ext cx="1996015" cy="151686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Explainable AI Integration</a:t>
            </a: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LIME highlights influential pixel regions; Grad-CAM generates heatmaps indicating decision regions — improving transparency and user trust in AI outputs.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AD619FA-2092-BBEA-B316-01D64A2F239F}"/>
              </a:ext>
            </a:extLst>
          </p:cNvPr>
          <p:cNvSpPr/>
          <p:nvPr/>
        </p:nvSpPr>
        <p:spPr>
          <a:xfrm>
            <a:off x="6739885" y="2136338"/>
            <a:ext cx="1959190" cy="14500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Data Preprocessing</a:t>
            </a: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Preprocessing with Sharp for image resizing and noise handling before ML inference. Supports standard SONAR data formats with format validation and normalization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9E1581-2E71-AC0E-BD68-CFCAB8788D30}"/>
              </a:ext>
            </a:extLst>
          </p:cNvPr>
          <p:cNvSpPr/>
          <p:nvPr/>
        </p:nvSpPr>
        <p:spPr>
          <a:xfrm>
            <a:off x="6739885" y="3727396"/>
            <a:ext cx="1971465" cy="14916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Performance</a:t>
            </a: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Achieved 90–97% classification accuracy with high precision and recall. Robust system performance validated through repeated testing.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ADDCC5-49AA-6E34-C0F0-47E71CA23BEC}"/>
              </a:ext>
            </a:extLst>
          </p:cNvPr>
          <p:cNvSpPr/>
          <p:nvPr/>
        </p:nvSpPr>
        <p:spPr>
          <a:xfrm>
            <a:off x="4624122" y="2136338"/>
            <a:ext cx="1959190" cy="14500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Web Platform</a:t>
            </a: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Built using React.js frontend, Express.js backend, and MongoDB database. Integrates with Google Colab ML API for real-time inference through RESTful endpoints.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B6F566-394C-9FA4-6E12-A157AD401920}"/>
              </a:ext>
            </a:extLst>
          </p:cNvPr>
          <p:cNvSpPr/>
          <p:nvPr/>
        </p:nvSpPr>
        <p:spPr>
          <a:xfrm>
            <a:off x="2471532" y="2136338"/>
            <a:ext cx="1959190" cy="14500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Secure Authentication</a:t>
            </a: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Implements Schnorr-based challenge–response cryptography for secure login and JWT token sessions, ensuring data integrity and authorized system access.</a:t>
            </a:r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49ADB4-20B2-EB60-4042-4DA8C31DFCAA}"/>
              </a:ext>
            </a:extLst>
          </p:cNvPr>
          <p:cNvCxnSpPr>
            <a:cxnSpLocks/>
          </p:cNvCxnSpPr>
          <p:nvPr/>
        </p:nvCxnSpPr>
        <p:spPr>
          <a:xfrm>
            <a:off x="337677" y="1808480"/>
            <a:ext cx="82678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9A49CAD-26AA-7701-49E5-E6B70E47464E}"/>
              </a:ext>
            </a:extLst>
          </p:cNvPr>
          <p:cNvCxnSpPr>
            <a:cxnSpLocks/>
          </p:cNvCxnSpPr>
          <p:nvPr/>
        </p:nvCxnSpPr>
        <p:spPr>
          <a:xfrm>
            <a:off x="442841" y="5588000"/>
            <a:ext cx="82678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hape 4">
            <a:extLst>
              <a:ext uri="{FF2B5EF4-FFF2-40B4-BE49-F238E27FC236}">
                <a16:creationId xmlns:a16="http://schemas.microsoft.com/office/drawing/2014/main" id="{3B6EDDAD-5C64-4EDA-B043-A6F9C6DFA7D6}"/>
              </a:ext>
            </a:extLst>
          </p:cNvPr>
          <p:cNvSpPr/>
          <p:nvPr/>
        </p:nvSpPr>
        <p:spPr>
          <a:xfrm>
            <a:off x="3403145" y="1771055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AF263341-7E4F-3CC1-2368-7225AB2A2D75}"/>
              </a:ext>
            </a:extLst>
          </p:cNvPr>
          <p:cNvSpPr/>
          <p:nvPr/>
        </p:nvSpPr>
        <p:spPr>
          <a:xfrm>
            <a:off x="5603716" y="1735087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  <p:txBody>
          <a:bodyPr/>
          <a:lstStyle/>
          <a:p>
            <a:endParaRPr lang="en-IN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55A6B7B-F838-1B73-6B3B-A18856C77446}"/>
              </a:ext>
            </a:extLst>
          </p:cNvPr>
          <p:cNvSpPr/>
          <p:nvPr/>
        </p:nvSpPr>
        <p:spPr>
          <a:xfrm>
            <a:off x="1263497" y="1735087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F837B971-4528-8A6B-0CD1-860B24668805}"/>
              </a:ext>
            </a:extLst>
          </p:cNvPr>
          <p:cNvSpPr/>
          <p:nvPr/>
        </p:nvSpPr>
        <p:spPr>
          <a:xfrm>
            <a:off x="7743364" y="1743413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D66B96AF-C4BB-1951-74BF-96E8A3561E73}"/>
              </a:ext>
            </a:extLst>
          </p:cNvPr>
          <p:cNvSpPr/>
          <p:nvPr/>
        </p:nvSpPr>
        <p:spPr>
          <a:xfrm>
            <a:off x="1273074" y="5551985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B5F24950-7D5F-089A-C30C-C6F8AA6FDC38}"/>
              </a:ext>
            </a:extLst>
          </p:cNvPr>
          <p:cNvSpPr/>
          <p:nvPr/>
        </p:nvSpPr>
        <p:spPr>
          <a:xfrm>
            <a:off x="3421103" y="5522615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9F4F40C5-D88D-D75F-76FD-C42771A743F9}"/>
              </a:ext>
            </a:extLst>
          </p:cNvPr>
          <p:cNvSpPr/>
          <p:nvPr/>
        </p:nvSpPr>
        <p:spPr>
          <a:xfrm>
            <a:off x="5603716" y="5528409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88B37055-A4D7-0DB3-AEC2-805F3C2CE42A}"/>
              </a:ext>
            </a:extLst>
          </p:cNvPr>
          <p:cNvSpPr/>
          <p:nvPr/>
        </p:nvSpPr>
        <p:spPr>
          <a:xfrm>
            <a:off x="7805618" y="5522615"/>
            <a:ext cx="119182" cy="119182"/>
          </a:xfrm>
          <a:prstGeom prst="roundRect">
            <a:avLst>
              <a:gd name="adj" fmla="val 383615"/>
            </a:avLst>
          </a:prstGeom>
          <a:solidFill>
            <a:srgbClr val="151617"/>
          </a:solidFill>
        </p:spPr>
        <p:txBody>
          <a:bodyPr/>
          <a:lstStyle/>
          <a:p>
            <a:endParaRPr lang="en-IN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1063E35-07E3-925A-DD69-11F032C85F15}"/>
              </a:ext>
            </a:extLst>
          </p:cNvPr>
          <p:cNvCxnSpPr>
            <a:cxnSpLocks/>
            <a:stCxn id="28" idx="2"/>
            <a:endCxn id="13" idx="0"/>
          </p:cNvCxnSpPr>
          <p:nvPr/>
        </p:nvCxnSpPr>
        <p:spPr>
          <a:xfrm>
            <a:off x="1323088" y="1854269"/>
            <a:ext cx="1" cy="282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20563E-5520-4E85-521B-DC3B4FF6CB47}"/>
              </a:ext>
            </a:extLst>
          </p:cNvPr>
          <p:cNvCxnSpPr>
            <a:cxnSpLocks/>
          </p:cNvCxnSpPr>
          <p:nvPr/>
        </p:nvCxnSpPr>
        <p:spPr>
          <a:xfrm>
            <a:off x="3462735" y="1890237"/>
            <a:ext cx="1" cy="2820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2FDD422-A58C-E9FF-6C67-B66929911BAD}"/>
              </a:ext>
            </a:extLst>
          </p:cNvPr>
          <p:cNvCxnSpPr>
            <a:cxnSpLocks/>
          </p:cNvCxnSpPr>
          <p:nvPr/>
        </p:nvCxnSpPr>
        <p:spPr>
          <a:xfrm>
            <a:off x="3491814" y="5244212"/>
            <a:ext cx="1" cy="2820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DB58D94-9519-37C5-9E8D-40D1A99BD20E}"/>
              </a:ext>
            </a:extLst>
          </p:cNvPr>
          <p:cNvCxnSpPr>
            <a:cxnSpLocks/>
          </p:cNvCxnSpPr>
          <p:nvPr/>
        </p:nvCxnSpPr>
        <p:spPr>
          <a:xfrm>
            <a:off x="1323088" y="5281004"/>
            <a:ext cx="1" cy="2820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E8A3A54-D66B-A937-2349-ECBA8F5D0FE2}"/>
              </a:ext>
            </a:extLst>
          </p:cNvPr>
          <p:cNvCxnSpPr>
            <a:cxnSpLocks/>
          </p:cNvCxnSpPr>
          <p:nvPr/>
        </p:nvCxnSpPr>
        <p:spPr>
          <a:xfrm>
            <a:off x="7792214" y="1845905"/>
            <a:ext cx="1" cy="2820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871B9A3-2102-F5FE-CF14-A8161B7CFEEE}"/>
              </a:ext>
            </a:extLst>
          </p:cNvPr>
          <p:cNvCxnSpPr>
            <a:cxnSpLocks/>
          </p:cNvCxnSpPr>
          <p:nvPr/>
        </p:nvCxnSpPr>
        <p:spPr>
          <a:xfrm>
            <a:off x="5663307" y="5239631"/>
            <a:ext cx="1" cy="2820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0134C54-66C2-1C7E-A313-58CDB1396F61}"/>
              </a:ext>
            </a:extLst>
          </p:cNvPr>
          <p:cNvCxnSpPr>
            <a:cxnSpLocks/>
          </p:cNvCxnSpPr>
          <p:nvPr/>
        </p:nvCxnSpPr>
        <p:spPr>
          <a:xfrm>
            <a:off x="7862546" y="5237057"/>
            <a:ext cx="1" cy="2820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C34A3FF-5F95-71EA-8326-728A1F7419A5}"/>
              </a:ext>
            </a:extLst>
          </p:cNvPr>
          <p:cNvCxnSpPr>
            <a:cxnSpLocks/>
          </p:cNvCxnSpPr>
          <p:nvPr/>
        </p:nvCxnSpPr>
        <p:spPr>
          <a:xfrm>
            <a:off x="5652689" y="1854269"/>
            <a:ext cx="1" cy="2820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System Architecture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91DED-5DC3-74CB-D8FD-72FB7EBC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108"/>
          <a:stretch>
            <a:fillRect/>
          </a:stretch>
        </p:blipFill>
        <p:spPr>
          <a:xfrm>
            <a:off x="0" y="1584960"/>
            <a:ext cx="9144000" cy="44348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 &amp; Tools</a:t>
            </a:r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679D7F-2502-C8E9-B6AF-2A6FBDF43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48" t="7617" r="7872" b="5747"/>
          <a:stretch>
            <a:fillRect/>
          </a:stretch>
        </p:blipFill>
        <p:spPr>
          <a:xfrm>
            <a:off x="0" y="1229042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Mathematical Foundation</a:t>
            </a:r>
            <a:endParaRPr lang="en-IN" b="1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DD972D58-13B8-938F-1A4D-194DAEAD7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337693"/>
            <a:ext cx="7886700" cy="33272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Improvements &amp; Key Learnings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638911-B504-99F9-DC39-CC1A1E4E1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087190"/>
            <a:ext cx="91440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Learnings: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understanding of multi-level AI pipelines, model tuning, and Explainable AI integration within a full-stack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Applications: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SONAR image analysis for faster, explainable underwater object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Analysis: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DenseNet121 with balanced sampling, achieving higher accuracy and reduced inference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Improvements Made: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Tuned models, improved preprocessing, added secure login, modular backend, and interactive web interface with LIME &amp; Grad-CAM.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with Original Paper: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Extended to a complete end-to-end deployable system with authentication, explainability, and history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&amp; Solutions: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Tackled overfitting (dropout, augmentation), cleaned data formats, and resolved model loading &amp; API sync issues.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Limitations &amp; Future Work: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Currently limited to six object classes; plans to extend to more data types and multimodal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4406FD-7395-99A2-2920-49DDE6A2A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415092"/>
              </p:ext>
            </p:extLst>
          </p:nvPr>
        </p:nvGraphicFramePr>
        <p:xfrm>
          <a:off x="0" y="1199535"/>
          <a:ext cx="9144000" cy="614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44821846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497933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95103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706163778"/>
                    </a:ext>
                  </a:extLst>
                </a:gridCol>
              </a:tblGrid>
              <a:tr h="292881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Key Learnings:</a:t>
                      </a:r>
                      <a:b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Enhanced understanding of multi-level AI pipelines, model tuning, and Explainable AI integration within a full-stack system.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Performance Analysis:</a:t>
                      </a:r>
                      <a:b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Optimized DenseNet121 with balanced sampling, achieving higher accuracy and reduced inference time.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Comparison with Original Paper:</a:t>
                      </a:r>
                      <a:b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Extended to a complete end-to-end deployable system with authentication, explainability, and history tracking.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</a:rPr>
                        <a:t>Limitations &amp; Future Work:</a:t>
                      </a:r>
                      <a:br>
                        <a:rPr lang="en-US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</a:rPr>
                      </a:br>
                      <a:r>
                        <a:rPr lang="en-US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</a:rPr>
                        <a:t>Currently limited to six object classes; plans to extend to more data types and multimodal fusion.</a:t>
                      </a:r>
                    </a:p>
                    <a:p>
                      <a:endParaRPr lang="en-IN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190209"/>
                  </a:ext>
                </a:extLst>
              </a:tr>
              <a:tr h="321224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Real-World Applications:</a:t>
                      </a:r>
                      <a:b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Automated SONAR image analysis for faster, explainable underwater object detection.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Improvements Made:</a:t>
                      </a:r>
                      <a:b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Tuned models, improved preprocessing, added secure login, modular backend, and interactive web interface with LIME &amp; Grad-CAM.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Challenges &amp; Solutions:</a:t>
                      </a:r>
                      <a:b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Tackled overfitting (dropout, augmentation), cleaned data formats, and resolved model loading &amp; API sync issues.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972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</TotalTime>
  <Words>609</Words>
  <Application>Microsoft Office PowerPoint</Application>
  <PresentationFormat>On-screen Show (4:3)</PresentationFormat>
  <Paragraphs>52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Project Overview</vt:lpstr>
      <vt:lpstr>System Architecture </vt:lpstr>
      <vt:lpstr>Technology Stack &amp; Tools</vt:lpstr>
      <vt:lpstr>Mathematical Foundation</vt:lpstr>
      <vt:lpstr>Demo </vt:lpstr>
      <vt:lpstr>Improvements &amp; Key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Akshitha Solleti</cp:lastModifiedBy>
  <cp:revision>10</cp:revision>
  <dcterms:created xsi:type="dcterms:W3CDTF">2013-01-27T09:14:16Z</dcterms:created>
  <dcterms:modified xsi:type="dcterms:W3CDTF">2025-11-09T14:12:49Z</dcterms:modified>
  <cp:category/>
</cp:coreProperties>
</file>