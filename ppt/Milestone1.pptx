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Inconsolata" pitchFamily="1" charset="0"/>
      <p:bold r:id="rId9"/>
    </p:embeddedFont>
    <p:embeddedFont>
      <p:font typeface="Montserrat Black" panose="00000A00000000000000" pitchFamily="2" charset="0"/>
      <p:bold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5" d="100"/>
          <a:sy n="65" d="100"/>
        </p:scale>
        <p:origin x="830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5380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A2A0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5380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A2A0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5380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A2A0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5380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A2A0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5380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A2A0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5380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A2A0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213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7942" y="2955250"/>
            <a:ext cx="11467981" cy="6054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94999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SONAR IMAGE CLASSIFICATION &amp; ANALYSIS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77942" y="3851196"/>
            <a:ext cx="6540341" cy="3844528"/>
          </a:xfrm>
          <a:prstGeom prst="roundRect">
            <a:avLst>
              <a:gd name="adj" fmla="val 2854"/>
            </a:avLst>
          </a:prstGeom>
          <a:solidFill>
            <a:srgbClr val="4A2A0A"/>
          </a:solidFill>
          <a:ln w="2286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55082" y="3851196"/>
            <a:ext cx="91440" cy="3844528"/>
          </a:xfrm>
          <a:prstGeom prst="roundRect">
            <a:avLst>
              <a:gd name="adj" fmla="val 10000"/>
            </a:avLst>
          </a:prstGeom>
          <a:solidFill>
            <a:srgbClr val="151617"/>
          </a:solidFill>
        </p:spPr>
      </p:sp>
      <p:sp>
        <p:nvSpPr>
          <p:cNvPr id="6" name="Text 3"/>
          <p:cNvSpPr/>
          <p:nvPr/>
        </p:nvSpPr>
        <p:spPr>
          <a:xfrm>
            <a:off x="963097" y="4067770"/>
            <a:ext cx="2421374" cy="3026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Objective: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63097" y="4486632"/>
            <a:ext cx="6038612" cy="9297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Automate the classification of underwater SONAR images to identify objects such as ships, mines, planes, humans, fishes and seafloor regions.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3097" y="5484138"/>
            <a:ext cx="6038612" cy="619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Reduce reliance on manual inspection by building a reliable deep learning–based system.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3097" y="6171724"/>
            <a:ext cx="6038612" cy="619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SzPct val="100000"/>
              <a:buNone/>
            </a:pPr>
            <a:r>
              <a:rPr lang="en-US" sz="150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Ensure the model’s outputs are </a:t>
            </a:r>
            <a:r>
              <a:rPr lang="en-US" sz="150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interpretable</a:t>
            </a:r>
            <a:r>
              <a:rPr lang="en-US" sz="150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, so that results can be trusted in critical applications.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411998" y="3851196"/>
            <a:ext cx="6540460" cy="3844528"/>
          </a:xfrm>
          <a:prstGeom prst="roundRect">
            <a:avLst>
              <a:gd name="adj" fmla="val 2854"/>
            </a:avLst>
          </a:prstGeom>
          <a:solidFill>
            <a:srgbClr val="4A2A0A"/>
          </a:solidFill>
          <a:ln w="2286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89138" y="3851196"/>
            <a:ext cx="91440" cy="3844528"/>
          </a:xfrm>
          <a:prstGeom prst="roundRect">
            <a:avLst>
              <a:gd name="adj" fmla="val 10000"/>
            </a:avLst>
          </a:prstGeom>
          <a:solidFill>
            <a:srgbClr val="151617"/>
          </a:solidFill>
        </p:spPr>
      </p:sp>
      <p:sp>
        <p:nvSpPr>
          <p:cNvPr id="12" name="Text 9"/>
          <p:cNvSpPr/>
          <p:nvPr/>
        </p:nvSpPr>
        <p:spPr>
          <a:xfrm>
            <a:off x="7697153" y="4067770"/>
            <a:ext cx="2421374" cy="3026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Approach: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697153" y="4486632"/>
            <a:ext cx="6038731" cy="619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SzPct val="100000"/>
              <a:buNone/>
            </a:pPr>
            <a:r>
              <a:rPr lang="en-US" sz="150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Apply </a:t>
            </a:r>
            <a:r>
              <a:rPr lang="en-US" sz="150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transfer learning</a:t>
            </a:r>
            <a:r>
              <a:rPr lang="en-US" sz="150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with established CNN backbones for classification.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697153" y="5174218"/>
            <a:ext cx="6038731" cy="619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SzPct val="100000"/>
              <a:buNone/>
            </a:pPr>
            <a:r>
              <a:rPr lang="en-US" sz="150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Build a </a:t>
            </a:r>
            <a:r>
              <a:rPr lang="en-US" sz="150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custom dataset</a:t>
            </a:r>
            <a:r>
              <a:rPr lang="en-US" sz="150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by combining multiple publicly available SONAR sources.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697153" y="5861804"/>
            <a:ext cx="6038731" cy="619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SzPct val="100000"/>
              <a:buNone/>
            </a:pPr>
            <a:r>
              <a:rPr lang="en-US" sz="150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Use </a:t>
            </a:r>
            <a:r>
              <a:rPr lang="en-US" sz="150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augmentation and balancing strategies</a:t>
            </a:r>
            <a:r>
              <a:rPr lang="en-US" sz="150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to overcome uneven class distributions.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697153" y="6549390"/>
            <a:ext cx="6038731" cy="9297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SzPct val="100000"/>
              <a:buNone/>
            </a:pPr>
            <a:r>
              <a:rPr lang="en-US" sz="150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Integrate </a:t>
            </a:r>
            <a:r>
              <a:rPr lang="en-US" sz="150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Explainable AI tools (LIME &amp; SP-LIME)</a:t>
            </a:r>
            <a:r>
              <a:rPr lang="en-US" sz="150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to provide visual, human-understandable explanations for model predictions.</a:t>
            </a:r>
            <a:endParaRPr lang="en-US" sz="15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5405" y="7789545"/>
            <a:ext cx="1824990" cy="351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5678" y="586621"/>
            <a:ext cx="4630817" cy="4754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94999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Problem &amp; Relevance :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5678" y="1561267"/>
            <a:ext cx="6554391" cy="2919889"/>
          </a:xfrm>
          <a:prstGeom prst="roundRect">
            <a:avLst>
              <a:gd name="adj" fmla="val 313"/>
            </a:avLst>
          </a:prstGeom>
          <a:solidFill>
            <a:srgbClr val="4A2A0A"/>
          </a:solidFill>
          <a:ln w="2286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8538" y="1584127"/>
            <a:ext cx="6508671" cy="190143"/>
          </a:xfrm>
          <a:prstGeom prst="rect">
            <a:avLst/>
          </a:prstGeom>
          <a:solidFill>
            <a:srgbClr val="4A2A0A"/>
          </a:solidFill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8681" y="1964412"/>
            <a:ext cx="5144691" cy="29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problem does this project address?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78681" y="2375654"/>
            <a:ext cx="6128385" cy="912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SzPct val="100000"/>
              <a:buNone/>
            </a:pPr>
            <a:r>
              <a:rPr lang="en-US" sz="14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Scientific/Technical</a:t>
            </a:r>
            <a:r>
              <a:rPr lang="en-US" sz="14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: Automating the classification of underwater SONAR images with deep learning and explainability.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78681" y="3355181"/>
            <a:ext cx="6128385" cy="912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SzPct val="100000"/>
              <a:buNone/>
            </a:pPr>
            <a:r>
              <a:rPr lang="en-US" sz="14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Business/Operational</a:t>
            </a:r>
            <a:r>
              <a:rPr lang="en-US" sz="14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: Manual inspection is slow, inconsistent, and costly; automation can significantly improve efficiency.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10212" y="1275993"/>
            <a:ext cx="6554510" cy="3205163"/>
          </a:xfrm>
          <a:prstGeom prst="roundRect">
            <a:avLst>
              <a:gd name="adj" fmla="val 285"/>
            </a:avLst>
          </a:prstGeom>
          <a:solidFill>
            <a:srgbClr val="4A2A0A"/>
          </a:solidFill>
          <a:ln w="2286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33072" y="1298853"/>
            <a:ext cx="6508790" cy="190143"/>
          </a:xfrm>
          <a:prstGeom prst="rect">
            <a:avLst/>
          </a:prstGeom>
          <a:solidFill>
            <a:srgbClr val="4A2A0A"/>
          </a:solidFill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23215" y="1679138"/>
            <a:ext cx="2550319" cy="29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is it important?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23215" y="2090380"/>
            <a:ext cx="6128504" cy="608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SzPct val="100000"/>
              <a:buNone/>
            </a:pPr>
            <a:r>
              <a:rPr lang="en-US" sz="14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Enhances </a:t>
            </a:r>
            <a:r>
              <a:rPr lang="en-US" sz="14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maritime security</a:t>
            </a:r>
            <a:r>
              <a:rPr lang="en-US" sz="14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by enabling faster detection of threats such as mines.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623215" y="2765584"/>
            <a:ext cx="6128504" cy="608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SzPct val="100000"/>
              <a:buNone/>
            </a:pPr>
            <a:r>
              <a:rPr lang="en-US" sz="14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Supports </a:t>
            </a:r>
            <a:r>
              <a:rPr lang="en-US" sz="14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ocean exploration &amp; research</a:t>
            </a:r>
            <a:r>
              <a:rPr lang="en-US" sz="14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, where accurate classification saves time and resources.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623215" y="3440787"/>
            <a:ext cx="6128504" cy="608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SzPct val="100000"/>
              <a:buNone/>
            </a:pPr>
            <a:r>
              <a:rPr lang="en-US" sz="14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Builds </a:t>
            </a:r>
            <a:r>
              <a:rPr lang="en-US" sz="14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trustworthy AI systems</a:t>
            </a:r>
            <a:r>
              <a:rPr lang="en-US" sz="14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by making predictions transparent through explainable AI.</a:t>
            </a:r>
            <a:endParaRPr lang="en-US" sz="14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78" y="4909066"/>
            <a:ext cx="2286000" cy="2286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90329" y="4885253"/>
            <a:ext cx="4307562" cy="4754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94999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Potential Use Cases :</a:t>
            </a:r>
            <a:endParaRPr lang="en-US" sz="2950" dirty="0"/>
          </a:p>
        </p:txBody>
      </p:sp>
      <p:sp>
        <p:nvSpPr>
          <p:cNvPr id="16" name="Text 13"/>
          <p:cNvSpPr/>
          <p:nvPr/>
        </p:nvSpPr>
        <p:spPr>
          <a:xfrm>
            <a:off x="5490329" y="5550813"/>
            <a:ext cx="8481893" cy="3043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SzPct val="100000"/>
              <a:buNone/>
            </a:pPr>
            <a:r>
              <a:rPr lang="en-US" sz="14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Defense &amp; Naval Security</a:t>
            </a:r>
            <a:r>
              <a:rPr lang="en-US" sz="14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→ Detecting suspicious underwater objects in real-time.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490329" y="5921693"/>
            <a:ext cx="8481893" cy="3043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SzPct val="100000"/>
              <a:buNone/>
            </a:pPr>
            <a:r>
              <a:rPr lang="en-US" sz="14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Marine Industry</a:t>
            </a:r>
            <a:r>
              <a:rPr lang="en-US" sz="14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→ Locating wrecks, pipelines, and underwater infrastructure.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490329" y="6292572"/>
            <a:ext cx="8481893" cy="608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SzPct val="100000"/>
              <a:buNone/>
            </a:pPr>
            <a:r>
              <a:rPr lang="en-US" sz="14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Environmental Monitoring</a:t>
            </a:r>
            <a:r>
              <a:rPr lang="en-US" sz="14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→ Identifying fish populations, reefs, and ecological patterns.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490329" y="6967776"/>
            <a:ext cx="8481893" cy="608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SzPct val="100000"/>
              <a:buNone/>
            </a:pPr>
            <a:r>
              <a:rPr lang="en-US" sz="14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Search &amp; Rescue</a:t>
            </a:r>
            <a:r>
              <a:rPr lang="en-US" sz="14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→ Rapidly spotting aircraft or shipwreck debris and human divers in distress.</a:t>
            </a:r>
            <a:endParaRPr lang="en-US" sz="145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3970" y="7767955"/>
            <a:ext cx="1916430" cy="363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148" y="481608"/>
            <a:ext cx="4365903" cy="5456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94999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Scope 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11148" y="1289209"/>
            <a:ext cx="7921704" cy="3160633"/>
          </a:xfrm>
          <a:prstGeom prst="roundRect">
            <a:avLst>
              <a:gd name="adj" fmla="val 289"/>
            </a:avLst>
          </a:prstGeom>
          <a:solidFill>
            <a:srgbClr val="4A2A0A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93313" y="1471374"/>
            <a:ext cx="2182892" cy="2727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Implementation : 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93313" y="1848922"/>
            <a:ext cx="7557373" cy="5588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SzPct val="100000"/>
              <a:buNone/>
            </a:pPr>
            <a:r>
              <a:rPr lang="en-US" sz="13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Web-based SONAR Classification System</a:t>
            </a:r>
            <a:r>
              <a:rPr lang="en-US" sz="13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→ Interactive React frontend with Node.js backend for real-time image upload and classification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93313" y="2468880"/>
            <a:ext cx="7557373" cy="5588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SzPct val="100000"/>
              <a:buNone/>
            </a:pPr>
            <a:r>
              <a:rPr lang="en-US" sz="13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Transfer Learning Implementation</a:t>
            </a:r>
            <a:r>
              <a:rPr lang="en-US" sz="13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→ DenseNet121 model fine-tuned on custom SONAR dataset with weighted cross-entropy loss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93313" y="3088838"/>
            <a:ext cx="7557373" cy="5588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SzPct val="100000"/>
              <a:buNone/>
            </a:pPr>
            <a:r>
              <a:rPr lang="en-US" sz="13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Explainable AI Integration</a:t>
            </a:r>
            <a:r>
              <a:rPr lang="en-US" sz="13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→ Grad-CAM visualizations to highlight important image regions for classification decisions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93313" y="3708797"/>
            <a:ext cx="7557373" cy="5588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SzPct val="100000"/>
              <a:buNone/>
            </a:pPr>
            <a:r>
              <a:rPr lang="en-US" sz="13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Custom Dataset Processing</a:t>
            </a:r>
            <a:r>
              <a:rPr lang="en-US" sz="13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→ Automated preprocessing pipeline for multi-source SONAR image datasets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11148" y="4820841"/>
            <a:ext cx="2182892" cy="2727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94999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In-Scope :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11148" y="5268158"/>
            <a:ext cx="3747849" cy="5588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Six-class classification (Fish, Human, Mine, Plane, Seafloor, Ship)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1148" y="5888117"/>
            <a:ext cx="3747849" cy="5588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Real-time web interface for image upload and prediction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11148" y="6508075"/>
            <a:ext cx="3747849" cy="5588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Visual explanations through Grad-CAM heatmaps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11148" y="7128034"/>
            <a:ext cx="3747849" cy="5588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Model performance metrics and confusion matrices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792623" y="4820841"/>
            <a:ext cx="2182892" cy="2727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94999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Out-of-Scope 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792623" y="5268158"/>
            <a:ext cx="3747849" cy="279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Real-time SONAR hardware integration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792623" y="5608677"/>
            <a:ext cx="3747849" cy="5588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Multi-object detection within single images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792623" y="6228636"/>
            <a:ext cx="3747849" cy="279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Advanced image enhancement techniques</a:t>
            </a:r>
            <a:endParaRPr lang="en-US" sz="135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3970" y="7767955"/>
            <a:ext cx="1916430" cy="3632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A2A0A">
              <a:alpha val="80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56617" y="560546"/>
            <a:ext cx="3976092" cy="4970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94999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Proposed Solution 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7303770" y="1296114"/>
            <a:ext cx="22860" cy="4152781"/>
          </a:xfrm>
          <a:prstGeom prst="roundRect">
            <a:avLst>
              <a:gd name="adj" fmla="val 40000"/>
            </a:avLst>
          </a:prstGeom>
          <a:solidFill>
            <a:srgbClr val="FFFFFF">
              <a:alpha val="24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6860977" y="2004774"/>
            <a:ext cx="477083" cy="22860"/>
          </a:xfrm>
          <a:prstGeom prst="roundRect">
            <a:avLst>
              <a:gd name="adj" fmla="val 40000"/>
            </a:avLst>
          </a:prstGeom>
          <a:solidFill>
            <a:srgbClr val="2E2F30"/>
          </a:solidFill>
        </p:spPr>
      </p:sp>
      <p:sp>
        <p:nvSpPr>
          <p:cNvPr id="7" name="Shape 4"/>
          <p:cNvSpPr/>
          <p:nvPr/>
        </p:nvSpPr>
        <p:spPr>
          <a:xfrm>
            <a:off x="7255609" y="1956614"/>
            <a:ext cx="119182" cy="119182"/>
          </a:xfrm>
          <a:prstGeom prst="roundRect">
            <a:avLst>
              <a:gd name="adj" fmla="val 383615"/>
            </a:avLst>
          </a:prstGeom>
          <a:solidFill>
            <a:srgbClr val="151617"/>
          </a:solidFill>
        </p:spPr>
      </p:sp>
      <p:sp>
        <p:nvSpPr>
          <p:cNvPr id="8" name="Shape 5"/>
          <p:cNvSpPr/>
          <p:nvPr/>
        </p:nvSpPr>
        <p:spPr>
          <a:xfrm>
            <a:off x="556617" y="1296114"/>
            <a:ext cx="6281499" cy="1440299"/>
          </a:xfrm>
          <a:prstGeom prst="roundRect">
            <a:avLst>
              <a:gd name="adj" fmla="val 635"/>
            </a:avLst>
          </a:prstGeom>
          <a:solidFill>
            <a:srgbClr val="4A2A0A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505200" y="1462683"/>
            <a:ext cx="3166348" cy="2484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550" b="1" u="sng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Enhanced Model Optimization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23186" y="1806535"/>
            <a:ext cx="5948363" cy="7633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Weighted Cross-Entropy Loss: Implemented to address class imbalance, ensuring improved accuracy in rare class detection compared to standard categorical cross-entropy.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92340" y="2958941"/>
            <a:ext cx="477083" cy="22860"/>
          </a:xfrm>
          <a:prstGeom prst="roundRect">
            <a:avLst>
              <a:gd name="adj" fmla="val 40000"/>
            </a:avLst>
          </a:prstGeom>
          <a:solidFill>
            <a:srgbClr val="2E2F30"/>
          </a:solidFill>
        </p:spPr>
      </p:sp>
      <p:sp>
        <p:nvSpPr>
          <p:cNvPr id="12" name="Shape 9"/>
          <p:cNvSpPr/>
          <p:nvPr/>
        </p:nvSpPr>
        <p:spPr>
          <a:xfrm>
            <a:off x="7255609" y="2910780"/>
            <a:ext cx="119182" cy="119182"/>
          </a:xfrm>
          <a:prstGeom prst="roundRect">
            <a:avLst>
              <a:gd name="adj" fmla="val 383615"/>
            </a:avLst>
          </a:prstGeom>
          <a:solidFill>
            <a:srgbClr val="151617"/>
          </a:solidFill>
        </p:spPr>
      </p:sp>
      <p:sp>
        <p:nvSpPr>
          <p:cNvPr id="13" name="Shape 10"/>
          <p:cNvSpPr/>
          <p:nvPr/>
        </p:nvSpPr>
        <p:spPr>
          <a:xfrm>
            <a:off x="7792283" y="2250281"/>
            <a:ext cx="6281499" cy="1440299"/>
          </a:xfrm>
          <a:prstGeom prst="roundRect">
            <a:avLst>
              <a:gd name="adj" fmla="val 635"/>
            </a:avLst>
          </a:prstGeom>
          <a:solidFill>
            <a:srgbClr val="4A2A0A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958852" y="2416850"/>
            <a:ext cx="2666643" cy="2484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u="sng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Scalable Web Application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958852" y="2760702"/>
            <a:ext cx="5948363" cy="7633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Responsive React Frontend &amp; Node.js Backend</a:t>
            </a:r>
            <a:r>
              <a:rPr lang="en-US" sz="12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: Developed a modern web interface to make the model accessible via browsers, supporting seamless interaction with the system.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860977" y="3838099"/>
            <a:ext cx="477083" cy="22860"/>
          </a:xfrm>
          <a:prstGeom prst="roundRect">
            <a:avLst>
              <a:gd name="adj" fmla="val 40000"/>
            </a:avLst>
          </a:prstGeom>
          <a:solidFill>
            <a:srgbClr val="2E2F30"/>
          </a:solidFill>
        </p:spPr>
      </p:sp>
      <p:sp>
        <p:nvSpPr>
          <p:cNvPr id="17" name="Shape 14"/>
          <p:cNvSpPr/>
          <p:nvPr/>
        </p:nvSpPr>
        <p:spPr>
          <a:xfrm>
            <a:off x="7255609" y="3789938"/>
            <a:ext cx="119182" cy="119182"/>
          </a:xfrm>
          <a:prstGeom prst="roundRect">
            <a:avLst>
              <a:gd name="adj" fmla="val 383615"/>
            </a:avLst>
          </a:prstGeom>
          <a:solidFill>
            <a:srgbClr val="151617"/>
          </a:solidFill>
        </p:spPr>
      </p:sp>
      <p:sp>
        <p:nvSpPr>
          <p:cNvPr id="18" name="Shape 15"/>
          <p:cNvSpPr/>
          <p:nvPr/>
        </p:nvSpPr>
        <p:spPr>
          <a:xfrm>
            <a:off x="556617" y="3129439"/>
            <a:ext cx="6281499" cy="1440299"/>
          </a:xfrm>
          <a:prstGeom prst="roundRect">
            <a:avLst>
              <a:gd name="adj" fmla="val 635"/>
            </a:avLst>
          </a:prstGeom>
          <a:solidFill>
            <a:srgbClr val="4A2A0A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208264" y="3296007"/>
            <a:ext cx="2463284" cy="2484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550" b="1" u="sng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Improved Explainability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23186" y="3639860"/>
            <a:ext cx="5948363" cy="7633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Grad-CAM Visualizations</a:t>
            </a:r>
            <a:r>
              <a:rPr lang="en-US" sz="12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: Replaced traditional explainability techniques (LIME/SP-LIME) with Grad-CAM, offering faster, more intuitive, and accurate visual heatmaps to show decision-making regions in the model.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292340" y="4717256"/>
            <a:ext cx="477083" cy="22860"/>
          </a:xfrm>
          <a:prstGeom prst="roundRect">
            <a:avLst>
              <a:gd name="adj" fmla="val 40000"/>
            </a:avLst>
          </a:prstGeom>
          <a:solidFill>
            <a:srgbClr val="2E2F30"/>
          </a:solidFill>
        </p:spPr>
      </p:sp>
      <p:sp>
        <p:nvSpPr>
          <p:cNvPr id="22" name="Shape 19"/>
          <p:cNvSpPr/>
          <p:nvPr/>
        </p:nvSpPr>
        <p:spPr>
          <a:xfrm>
            <a:off x="7255609" y="4669095"/>
            <a:ext cx="119182" cy="119182"/>
          </a:xfrm>
          <a:prstGeom prst="roundRect">
            <a:avLst>
              <a:gd name="adj" fmla="val 383615"/>
            </a:avLst>
          </a:prstGeom>
          <a:solidFill>
            <a:srgbClr val="151617"/>
          </a:solidFill>
        </p:spPr>
      </p:sp>
      <p:sp>
        <p:nvSpPr>
          <p:cNvPr id="23" name="Shape 20"/>
          <p:cNvSpPr/>
          <p:nvPr/>
        </p:nvSpPr>
        <p:spPr>
          <a:xfrm>
            <a:off x="7792283" y="4008596"/>
            <a:ext cx="6281499" cy="1440299"/>
          </a:xfrm>
          <a:prstGeom prst="roundRect">
            <a:avLst>
              <a:gd name="adj" fmla="val 635"/>
            </a:avLst>
          </a:prstGeom>
          <a:solidFill>
            <a:srgbClr val="4A2A0A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958852" y="4175165"/>
            <a:ext cx="2711887" cy="2484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u="sng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Production-Ready System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7958852" y="4519017"/>
            <a:ext cx="5948363" cy="7633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Containerized Deployment</a:t>
            </a:r>
            <a:r>
              <a:rPr lang="en-US" sz="12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: Leveraged Docker for easy scalability and portability, enabling smooth deployment with REST API endpoints for integration with external systems.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56617" y="5627727"/>
            <a:ext cx="13517166" cy="2041208"/>
          </a:xfrm>
          <a:prstGeom prst="roundRect">
            <a:avLst>
              <a:gd name="adj" fmla="val 448"/>
            </a:avLst>
          </a:prstGeom>
          <a:solidFill>
            <a:srgbClr val="4A2A0A"/>
          </a:solidFill>
          <a:ln w="2286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38426" y="5809536"/>
            <a:ext cx="3180874" cy="397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OUTCOMES</a:t>
            </a:r>
            <a:endParaRPr lang="en-US" sz="2500" dirty="0"/>
          </a:p>
        </p:txBody>
      </p:sp>
      <p:sp>
        <p:nvSpPr>
          <p:cNvPr id="28" name="Text 25"/>
          <p:cNvSpPr/>
          <p:nvPr/>
        </p:nvSpPr>
        <p:spPr>
          <a:xfrm>
            <a:off x="738426" y="6302573"/>
            <a:ext cx="13153549" cy="2544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Fully functional web application achieving &gt;95% classification accuracy on SONAR images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38426" y="6612612"/>
            <a:ext cx="13153549" cy="2544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Real-time explainable predictions with visual heatmaps showing decision-making regions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38426" y="6922651"/>
            <a:ext cx="13153549" cy="2544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Comprehensive performance dashboard with metrics, confusion matrices, and model insights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38426" y="7232690"/>
            <a:ext cx="13153549" cy="2544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Scalable system architecture ready for deployment in maritime security applications</a:t>
            </a:r>
            <a:endParaRPr lang="en-US" sz="125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3970" y="7767955"/>
            <a:ext cx="1916430" cy="363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3983" y="486966"/>
            <a:ext cx="3100149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94999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Workflow 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64380" y="1060490"/>
            <a:ext cx="15240" cy="4797862"/>
          </a:xfrm>
          <a:prstGeom prst="roundRect">
            <a:avLst>
              <a:gd name="adj" fmla="val 60000"/>
            </a:avLst>
          </a:prstGeom>
          <a:solidFill>
            <a:srgbClr val="FFFFFF">
              <a:alpha val="24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4075807" y="1192292"/>
            <a:ext cx="371951" cy="15240"/>
          </a:xfrm>
          <a:prstGeom prst="roundRect">
            <a:avLst>
              <a:gd name="adj" fmla="val 60000"/>
            </a:avLst>
          </a:prstGeom>
          <a:solidFill>
            <a:srgbClr val="151617"/>
          </a:solidFill>
        </p:spPr>
      </p:sp>
      <p:sp>
        <p:nvSpPr>
          <p:cNvPr id="7" name="Shape 4"/>
          <p:cNvSpPr/>
          <p:nvPr/>
        </p:nvSpPr>
        <p:spPr>
          <a:xfrm>
            <a:off x="4432518" y="1060490"/>
            <a:ext cx="278963" cy="278963"/>
          </a:xfrm>
          <a:prstGeom prst="roundRect">
            <a:avLst>
              <a:gd name="adj" fmla="val 3278"/>
            </a:avLst>
          </a:prstGeom>
          <a:solidFill>
            <a:srgbClr val="4A2A0A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478953" y="1083707"/>
            <a:ext cx="185976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401967" y="1103114"/>
            <a:ext cx="1550075" cy="1937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200" b="1" u="sng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Input Layer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3983" y="1371124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User uploads SONAR image through React web interface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33983" y="1612940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Image validation and format checking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33983" y="1854756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Automatic resizing to 224x224 pixels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96242" y="1936313"/>
            <a:ext cx="371951" cy="15240"/>
          </a:xfrm>
          <a:prstGeom prst="roundRect">
            <a:avLst>
              <a:gd name="adj" fmla="val 60000"/>
            </a:avLst>
          </a:prstGeom>
          <a:solidFill>
            <a:srgbClr val="151617"/>
          </a:solidFill>
        </p:spPr>
      </p:sp>
      <p:sp>
        <p:nvSpPr>
          <p:cNvPr id="14" name="Shape 11"/>
          <p:cNvSpPr/>
          <p:nvPr/>
        </p:nvSpPr>
        <p:spPr>
          <a:xfrm>
            <a:off x="4432518" y="1804511"/>
            <a:ext cx="278963" cy="278963"/>
          </a:xfrm>
          <a:prstGeom prst="roundRect">
            <a:avLst>
              <a:gd name="adj" fmla="val 3278"/>
            </a:avLst>
          </a:prstGeom>
          <a:solidFill>
            <a:srgbClr val="4A2A0A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478953" y="1827728"/>
            <a:ext cx="185976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191958" y="1847136"/>
            <a:ext cx="1550075" cy="1937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u="sng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 (React)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91958" y="2115145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Image preview and upload component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191958" y="2356961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Real-time prediction display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191958" y="2598777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Interactive Grad-CAM visualization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191958" y="2840593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Results dashboard with metrics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075807" y="2677597"/>
            <a:ext cx="371951" cy="15240"/>
          </a:xfrm>
          <a:prstGeom prst="roundRect">
            <a:avLst>
              <a:gd name="adj" fmla="val 60000"/>
            </a:avLst>
          </a:prstGeom>
          <a:solidFill>
            <a:srgbClr val="151617"/>
          </a:solidFill>
        </p:spPr>
      </p:sp>
      <p:sp>
        <p:nvSpPr>
          <p:cNvPr id="22" name="Shape 19"/>
          <p:cNvSpPr/>
          <p:nvPr/>
        </p:nvSpPr>
        <p:spPr>
          <a:xfrm>
            <a:off x="4432518" y="2545794"/>
            <a:ext cx="278963" cy="278963"/>
          </a:xfrm>
          <a:prstGeom prst="roundRect">
            <a:avLst>
              <a:gd name="adj" fmla="val 3278"/>
            </a:avLst>
          </a:prstGeom>
          <a:solidFill>
            <a:srgbClr val="4A2A0A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478953" y="2569012"/>
            <a:ext cx="185976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342668" y="2588419"/>
            <a:ext cx="2609374" cy="1937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200" b="1" u="sng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 API (Node.js + Express)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33983" y="2856428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RESTful endpoints for image processing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33983" y="3098244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Image preprocessing pipeline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33983" y="3340060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Model inference orchestration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33983" y="3581876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Response formatting and error handling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96242" y="3418880"/>
            <a:ext cx="371951" cy="15240"/>
          </a:xfrm>
          <a:prstGeom prst="roundRect">
            <a:avLst>
              <a:gd name="adj" fmla="val 60000"/>
            </a:avLst>
          </a:prstGeom>
          <a:solidFill>
            <a:srgbClr val="151617"/>
          </a:solidFill>
        </p:spPr>
      </p:sp>
      <p:sp>
        <p:nvSpPr>
          <p:cNvPr id="30" name="Shape 27"/>
          <p:cNvSpPr/>
          <p:nvPr/>
        </p:nvSpPr>
        <p:spPr>
          <a:xfrm>
            <a:off x="4432518" y="3287077"/>
            <a:ext cx="278963" cy="278963"/>
          </a:xfrm>
          <a:prstGeom prst="roundRect">
            <a:avLst>
              <a:gd name="adj" fmla="val 3278"/>
            </a:avLst>
          </a:prstGeom>
          <a:solidFill>
            <a:srgbClr val="4A2A0A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478953" y="3310295"/>
            <a:ext cx="185976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5191958" y="3329702"/>
            <a:ext cx="1886545" cy="1937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u="sng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ML Processing Pipeline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191958" y="3597712"/>
            <a:ext cx="3518059" cy="3969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9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Preprocessing:</a:t>
            </a: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Normalization, RGB conversion, tensor formatting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191958" y="4038005"/>
            <a:ext cx="3518059" cy="3969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9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Classification:</a:t>
            </a: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DenseNet121 with weighted cross-entropy loss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191958" y="4478298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9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Explanation:</a:t>
            </a: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Grad-CAM heatmap generation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191958" y="4720114"/>
            <a:ext cx="3518059" cy="3969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9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Post-processing:</a:t>
            </a: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Confidence scoring and result formatting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075807" y="4457819"/>
            <a:ext cx="371951" cy="15240"/>
          </a:xfrm>
          <a:prstGeom prst="roundRect">
            <a:avLst>
              <a:gd name="adj" fmla="val 60000"/>
            </a:avLst>
          </a:prstGeom>
          <a:solidFill>
            <a:srgbClr val="151617"/>
          </a:solidFill>
        </p:spPr>
      </p:sp>
      <p:sp>
        <p:nvSpPr>
          <p:cNvPr id="38" name="Shape 35"/>
          <p:cNvSpPr/>
          <p:nvPr/>
        </p:nvSpPr>
        <p:spPr>
          <a:xfrm>
            <a:off x="4432518" y="4326017"/>
            <a:ext cx="278963" cy="278963"/>
          </a:xfrm>
          <a:prstGeom prst="roundRect">
            <a:avLst>
              <a:gd name="adj" fmla="val 3278"/>
            </a:avLst>
          </a:prstGeom>
          <a:solidFill>
            <a:srgbClr val="4A2A0A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4478953" y="4349234"/>
            <a:ext cx="185976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1450" dirty="0"/>
          </a:p>
        </p:txBody>
      </p:sp>
      <p:sp>
        <p:nvSpPr>
          <p:cNvPr id="40" name="Text 37"/>
          <p:cNvSpPr/>
          <p:nvPr/>
        </p:nvSpPr>
        <p:spPr>
          <a:xfrm>
            <a:off x="2401967" y="4368641"/>
            <a:ext cx="1550075" cy="1937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200" b="1" u="sng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Output Delivery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33983" y="4636651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Class prediction with confidence percentage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33983" y="4878467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Grad-CAM heatmap overlay on original image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33983" y="5120283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Classification probabilities for all 6 classes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433983" y="5362099"/>
            <a:ext cx="3518059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Downloadable results and visualizations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433983" y="6044327"/>
            <a:ext cx="2480072" cy="309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94999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 Stack Flow</a:t>
            </a:r>
            <a:endParaRPr lang="en-US" sz="1950" dirty="0"/>
          </a:p>
        </p:txBody>
      </p:sp>
      <p:sp>
        <p:nvSpPr>
          <p:cNvPr id="46" name="Shape 43"/>
          <p:cNvSpPr/>
          <p:nvPr/>
        </p:nvSpPr>
        <p:spPr>
          <a:xfrm>
            <a:off x="433983" y="6540222"/>
            <a:ext cx="8276034" cy="1202293"/>
          </a:xfrm>
          <a:prstGeom prst="roundRect">
            <a:avLst>
              <a:gd name="adj" fmla="val 761"/>
            </a:avLst>
          </a:prstGeom>
          <a:solidFill>
            <a:srgbClr val="4A2A0A"/>
          </a:solidFill>
          <a:ln w="1524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573167" y="6679406"/>
            <a:ext cx="7997666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9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Frontend:</a:t>
            </a: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React → Axios HTTP client → REST API calls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573167" y="6921222"/>
            <a:ext cx="7997666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9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Backend:</a:t>
            </a: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Node.js → TensorFlow.js/Python bridge → Model inference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573167" y="7163038"/>
            <a:ext cx="7997666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9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ML:</a:t>
            </a: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Custom DenseNet121 → Grad-CAM → Visual explanations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573167" y="7404854"/>
            <a:ext cx="7997666" cy="198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950" b="1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Data Flow:</a:t>
            </a:r>
            <a:r>
              <a:rPr lang="en-US" sz="9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Image upload → Preprocessing → Prediction → Visualization → User display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A2A0A">
              <a:alpha val="80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793790" y="733306"/>
            <a:ext cx="836295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94999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122408"/>
            <a:ext cx="6407944" cy="2403396"/>
          </a:xfrm>
          <a:prstGeom prst="roundRect">
            <a:avLst>
              <a:gd name="adj" fmla="val 6087"/>
            </a:avLst>
          </a:prstGeom>
          <a:solidFill>
            <a:srgbClr val="4A2A0A"/>
          </a:solidFill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93790" y="2091928"/>
            <a:ext cx="6407944" cy="121920"/>
          </a:xfrm>
          <a:prstGeom prst="roundRect">
            <a:avLst>
              <a:gd name="adj" fmla="val 7500"/>
            </a:avLst>
          </a:prstGeom>
          <a:solidFill>
            <a:srgbClr val="151617"/>
          </a:solidFill>
        </p:spPr>
      </p:sp>
      <p:sp>
        <p:nvSpPr>
          <p:cNvPr id="7" name="Shape 4"/>
          <p:cNvSpPr/>
          <p:nvPr/>
        </p:nvSpPr>
        <p:spPr>
          <a:xfrm>
            <a:off x="3657540" y="178224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51617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1614" y="1952387"/>
            <a:ext cx="272177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084" y="2689384"/>
            <a:ext cx="545437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High-Precision Classification Model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51084" y="3179802"/>
            <a:ext cx="589335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Robust classification accuracy over 95% on diverse SONAR imagery, validating DenseNet121 efficacy for critical object identification.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428548" y="2122408"/>
            <a:ext cx="6408063" cy="2403396"/>
          </a:xfrm>
          <a:prstGeom prst="roundRect">
            <a:avLst>
              <a:gd name="adj" fmla="val 6087"/>
            </a:avLst>
          </a:prstGeom>
          <a:solidFill>
            <a:srgbClr val="4A2A0A"/>
          </a:solidFill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28548" y="2091928"/>
            <a:ext cx="6408063" cy="121920"/>
          </a:xfrm>
          <a:prstGeom prst="roundRect">
            <a:avLst>
              <a:gd name="adj" fmla="val 7500"/>
            </a:avLst>
          </a:prstGeom>
          <a:solidFill>
            <a:srgbClr val="151617"/>
          </a:solidFill>
        </p:spPr>
      </p:sp>
      <p:sp>
        <p:nvSpPr>
          <p:cNvPr id="13" name="Shape 9"/>
          <p:cNvSpPr/>
          <p:nvPr/>
        </p:nvSpPr>
        <p:spPr>
          <a:xfrm>
            <a:off x="10292298" y="178224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51617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6371" y="1952387"/>
            <a:ext cx="272177" cy="3401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85842" y="2689384"/>
            <a:ext cx="437185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Enhanced AI Interpretability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685842" y="3179802"/>
            <a:ext cx="589347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Grad-CAM integrated for clear, visual explanations, significantly increasing trust and transparency in AI-driven decisions.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793790" y="5092779"/>
            <a:ext cx="6407944" cy="2403396"/>
          </a:xfrm>
          <a:prstGeom prst="roundRect">
            <a:avLst>
              <a:gd name="adj" fmla="val 6087"/>
            </a:avLst>
          </a:prstGeom>
          <a:solidFill>
            <a:srgbClr val="4A2A0A"/>
          </a:solidFill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93790" y="5062299"/>
            <a:ext cx="6407944" cy="121920"/>
          </a:xfrm>
          <a:prstGeom prst="roundRect">
            <a:avLst>
              <a:gd name="adj" fmla="val 7500"/>
            </a:avLst>
          </a:prstGeom>
          <a:solidFill>
            <a:srgbClr val="151617"/>
          </a:solidFill>
        </p:spPr>
      </p:sp>
      <p:sp>
        <p:nvSpPr>
          <p:cNvPr id="19" name="Shape 14"/>
          <p:cNvSpPr/>
          <p:nvPr/>
        </p:nvSpPr>
        <p:spPr>
          <a:xfrm>
            <a:off x="3657540" y="475261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51617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1614" y="4922758"/>
            <a:ext cx="272177" cy="3401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084" y="5659755"/>
            <a:ext cx="544615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Production-Ready Web Application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51084" y="6150173"/>
            <a:ext cx="589335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Containerized web platform developed for real-time SONAR image classification, ensuring scalable deployment and seamless user interaction.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5092779"/>
            <a:ext cx="6408063" cy="2403396"/>
          </a:xfrm>
          <a:prstGeom prst="roundRect">
            <a:avLst>
              <a:gd name="adj" fmla="val 6087"/>
            </a:avLst>
          </a:prstGeom>
          <a:solidFill>
            <a:srgbClr val="4A2A0A"/>
          </a:solidFill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428548" y="5062299"/>
            <a:ext cx="6408063" cy="121920"/>
          </a:xfrm>
          <a:prstGeom prst="roundRect">
            <a:avLst>
              <a:gd name="adj" fmla="val 7500"/>
            </a:avLst>
          </a:prstGeom>
          <a:solidFill>
            <a:srgbClr val="151617"/>
          </a:solidFill>
        </p:spPr>
      </p:sp>
      <p:sp>
        <p:nvSpPr>
          <p:cNvPr id="25" name="Shape 19"/>
          <p:cNvSpPr/>
          <p:nvPr/>
        </p:nvSpPr>
        <p:spPr>
          <a:xfrm>
            <a:off x="10292298" y="475261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51617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6371" y="4922758"/>
            <a:ext cx="272177" cy="3401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85842" y="5659755"/>
            <a:ext cx="565189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AFB3B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Optimized Class Imbalance Handling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7685842" y="6150173"/>
            <a:ext cx="589347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AFB3B6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Weighted cross-entropy loss mitigated class imbalance, ensuring reliable detection performance across all six target classes.</a:t>
            </a:r>
            <a:endParaRPr lang="en-US" sz="175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13970" y="7767955"/>
            <a:ext cx="1916430" cy="3632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817</Words>
  <Application>Microsoft Office PowerPoint</Application>
  <PresentationFormat>Custom</PresentationFormat>
  <Paragraphs>102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Inconsolata</vt:lpstr>
      <vt:lpstr>Montserrat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Akshitha Solleti</cp:lastModifiedBy>
  <cp:revision>3</cp:revision>
  <dcterms:created xsi:type="dcterms:W3CDTF">2025-09-21T11:05:00Z</dcterms:created>
  <dcterms:modified xsi:type="dcterms:W3CDTF">2025-09-21T12:04:07Z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5BD0BBCE389C4C7BAEA79457D08DFD39_12</vt:lpwstr>
  </property>
  <property fmtid="{D5CDD505-2E9C-101B-9397-08002B2CF9AE}" pid="3" name="KSOProductBuildVer">
    <vt:lpwstr>2057-12.2.0.22556</vt:lpwstr>
  </property>
</Properties>
</file>